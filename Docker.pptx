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6" d="100"/>
          <a:sy n="46" d="100"/>
        </p:scale>
        <p:origin x="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1675220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3216358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124199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0E14FC9-DB28-485C-A2E3-C5AC7F899C74}"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4136556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0E14FC9-DB28-485C-A2E3-C5AC7F899C74}" type="datetimeFigureOut">
              <a:rPr lang="en-IN" smtClean="0"/>
              <a:t>07-04-2025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863519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0E14FC9-DB28-485C-A2E3-C5AC7F899C74}" type="datetimeFigureOut">
              <a:rPr lang="en-IN" smtClean="0"/>
              <a:t>07-04-2025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189097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E14FC9-DB28-485C-A2E3-C5AC7F899C74}" type="datetimeFigureOut">
              <a:rPr lang="en-IN" smtClean="0"/>
              <a:t>07-04-2025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64530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0E14FC9-DB28-485C-A2E3-C5AC7F899C74}"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1744070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0E14FC9-DB28-485C-A2E3-C5AC7F899C74}" type="datetimeFigureOut">
              <a:rPr lang="en-IN" smtClean="0"/>
              <a:t>07-04-2025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2521391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2856030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71569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256703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05406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3514465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1516053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E14FC9-DB28-485C-A2E3-C5AC7F899C74}" type="datetimeFigureOut">
              <a:rPr lang="en-IN" smtClean="0"/>
              <a:t>07-04-2025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B45A0AA-D4F3-4DE3-ADC2-F0852B09C8C7}" type="slidenum">
              <a:rPr lang="en-IN" smtClean="0"/>
              <a:t>‹#›</a:t>
            </a:fld>
            <a:endParaRPr lang="en-IN"/>
          </a:p>
        </p:txBody>
      </p:sp>
    </p:spTree>
    <p:extLst>
      <p:ext uri="{BB962C8B-B14F-4D97-AF65-F5344CB8AC3E}">
        <p14:creationId xmlns:p14="http://schemas.microsoft.com/office/powerpoint/2010/main" val="318997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0E14FC9-DB28-485C-A2E3-C5AC7F899C74}" type="datetimeFigureOut">
              <a:rPr lang="en-IN" smtClean="0"/>
              <a:t>07-04-2025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B45A0AA-D4F3-4DE3-ADC2-F0852B09C8C7}" type="slidenum">
              <a:rPr lang="en-IN" smtClean="0"/>
              <a:t>‹#›</a:t>
            </a:fld>
            <a:endParaRPr lang="en-IN"/>
          </a:p>
        </p:txBody>
      </p:sp>
    </p:spTree>
    <p:extLst>
      <p:ext uri="{BB962C8B-B14F-4D97-AF65-F5344CB8AC3E}">
        <p14:creationId xmlns:p14="http://schemas.microsoft.com/office/powerpoint/2010/main" val="2106124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181686" y="1035661"/>
            <a:ext cx="8312150" cy="4883150"/>
          </a:xfrm>
        </p:spPr>
      </p:pic>
    </p:spTree>
    <p:extLst>
      <p:ext uri="{BB962C8B-B14F-4D97-AF65-F5344CB8AC3E}">
        <p14:creationId xmlns:p14="http://schemas.microsoft.com/office/powerpoint/2010/main" val="400825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lstStyle/>
          <a:p>
            <a:r>
              <a:rPr lang="en-US" dirty="0" smtClean="0">
                <a:solidFill>
                  <a:schemeClr val="accent5">
                    <a:lumMod val="75000"/>
                  </a:schemeClr>
                </a:solidFill>
              </a:rPr>
              <a:t>Introduction:</a:t>
            </a:r>
            <a:endParaRPr lang="en-IN" dirty="0">
              <a:solidFill>
                <a:schemeClr val="accent5">
                  <a:lumMod val="75000"/>
                </a:schemeClr>
              </a:solidFill>
            </a:endParaRPr>
          </a:p>
        </p:txBody>
      </p:sp>
      <p:sp>
        <p:nvSpPr>
          <p:cNvPr id="3" name="Content Placeholder 2"/>
          <p:cNvSpPr>
            <a:spLocks noGrp="1"/>
          </p:cNvSpPr>
          <p:nvPr>
            <p:ph idx="1"/>
          </p:nvPr>
        </p:nvSpPr>
        <p:spPr>
          <a:xfrm>
            <a:off x="373966" y="1201784"/>
            <a:ext cx="10515600" cy="4975179"/>
          </a:xfrm>
        </p:spPr>
        <p:txBody>
          <a:bodyPr>
            <a:normAutofit lnSpcReduction="10000"/>
          </a:bodyPr>
          <a:lstStyle/>
          <a:p>
            <a:r>
              <a:rPr lang="en-US" sz="2000" dirty="0" smtClean="0">
                <a:solidFill>
                  <a:schemeClr val="accent5"/>
                </a:solidFill>
              </a:rPr>
              <a:t>What is container?</a:t>
            </a:r>
            <a:r>
              <a:rPr lang="en-US" sz="1600" dirty="0">
                <a:solidFill>
                  <a:schemeClr val="tx1"/>
                </a:solidFill>
              </a:rPr>
              <a:t/>
            </a:r>
            <a:br>
              <a:rPr lang="en-US" sz="1600" dirty="0">
                <a:solidFill>
                  <a:schemeClr val="tx1"/>
                </a:solidFill>
              </a:rPr>
            </a:br>
            <a:r>
              <a:rPr lang="en-US" sz="1600" dirty="0" smtClean="0">
                <a:solidFill>
                  <a:schemeClr val="tx1"/>
                </a:solidFill>
              </a:rPr>
              <a:t>Containers are lightweight and portable execution environments that allow developers to package their applications and dependencies into a single container that can be run consistently across different environments.</a:t>
            </a:r>
          </a:p>
          <a:p>
            <a:endParaRPr lang="en-US" sz="1600" dirty="0" smtClean="0">
              <a:solidFill>
                <a:schemeClr val="tx1"/>
              </a:solidFill>
            </a:endParaRPr>
          </a:p>
          <a:p>
            <a:r>
              <a:rPr lang="en-US" b="1" dirty="0" smtClean="0">
                <a:solidFill>
                  <a:schemeClr val="accent5"/>
                </a:solidFill>
              </a:rPr>
              <a:t>Key Characteristics of Containers</a:t>
            </a:r>
            <a:r>
              <a:rPr lang="en-US" sz="1600" dirty="0" smtClean="0">
                <a:solidFill>
                  <a:schemeClr val="tx1"/>
                </a:solidFill>
              </a:rPr>
              <a:t/>
            </a:r>
            <a:br>
              <a:rPr lang="en-US" sz="1600" dirty="0" smtClean="0">
                <a:solidFill>
                  <a:schemeClr val="tx1"/>
                </a:solidFill>
              </a:rPr>
            </a:br>
            <a:r>
              <a:rPr lang="en-US" sz="1600" b="1" dirty="0" smtClean="0">
                <a:solidFill>
                  <a:schemeClr val="tx1"/>
                </a:solidFill>
              </a:rPr>
              <a:t>1</a:t>
            </a:r>
            <a:r>
              <a:rPr lang="en-US" sz="1600" dirty="0">
                <a:solidFill>
                  <a:schemeClr val="tx1"/>
                </a:solidFill>
              </a:rPr>
              <a:t>. </a:t>
            </a:r>
            <a:r>
              <a:rPr lang="en-US" sz="1600" b="1" dirty="0" smtClean="0">
                <a:solidFill>
                  <a:schemeClr val="tx1"/>
                </a:solidFill>
              </a:rPr>
              <a:t>Lightweight</a:t>
            </a:r>
            <a:r>
              <a:rPr lang="en-US" sz="1600" dirty="0" smtClean="0">
                <a:solidFill>
                  <a:schemeClr val="tx1"/>
                </a:solidFill>
              </a:rPr>
              <a:t>: Containers </a:t>
            </a:r>
            <a:r>
              <a:rPr lang="en-US" sz="1600" dirty="0">
                <a:solidFill>
                  <a:schemeClr val="tx1"/>
                </a:solidFill>
              </a:rPr>
              <a:t>are much lighter than virtual machines, requiring fewer resources</a:t>
            </a:r>
            <a:r>
              <a:rPr lang="en-US" sz="1600" dirty="0" smtClean="0">
                <a:solidFill>
                  <a:schemeClr val="tx1"/>
                </a:solidFill>
              </a:rPr>
              <a:t>.</a:t>
            </a:r>
            <a:br>
              <a:rPr lang="en-US" sz="1600" dirty="0" smtClean="0">
                <a:solidFill>
                  <a:schemeClr val="tx1"/>
                </a:solidFill>
              </a:rPr>
            </a:br>
            <a:r>
              <a:rPr lang="en-US" sz="1600" b="1" dirty="0" smtClean="0">
                <a:solidFill>
                  <a:schemeClr val="tx1"/>
                </a:solidFill>
              </a:rPr>
              <a:t>2</a:t>
            </a:r>
            <a:r>
              <a:rPr lang="en-US" sz="1600" dirty="0">
                <a:solidFill>
                  <a:schemeClr val="tx1"/>
                </a:solidFill>
              </a:rPr>
              <a:t>. </a:t>
            </a:r>
            <a:r>
              <a:rPr lang="en-US" sz="1600" b="1" dirty="0" smtClean="0">
                <a:solidFill>
                  <a:schemeClr val="tx1"/>
                </a:solidFill>
              </a:rPr>
              <a:t>Portable</a:t>
            </a:r>
            <a:r>
              <a:rPr lang="en-US" sz="1600" dirty="0">
                <a:solidFill>
                  <a:schemeClr val="tx1"/>
                </a:solidFill>
              </a:rPr>
              <a:t>: Containers can be run consistently across different environments, including development, testing, staging, and production</a:t>
            </a:r>
            <a:r>
              <a:rPr lang="en-US" sz="1600" dirty="0" smtClean="0">
                <a:solidFill>
                  <a:schemeClr val="tx1"/>
                </a:solidFill>
              </a:rPr>
              <a:t>.</a:t>
            </a:r>
            <a:br>
              <a:rPr lang="en-US" sz="1600" dirty="0" smtClean="0">
                <a:solidFill>
                  <a:schemeClr val="tx1"/>
                </a:solidFill>
              </a:rPr>
            </a:br>
            <a:r>
              <a:rPr lang="en-US" sz="1600" b="1" dirty="0" smtClean="0">
                <a:solidFill>
                  <a:schemeClr val="tx1"/>
                </a:solidFill>
              </a:rPr>
              <a:t>3</a:t>
            </a:r>
            <a:r>
              <a:rPr lang="en-US" sz="1600" dirty="0">
                <a:solidFill>
                  <a:schemeClr val="tx1"/>
                </a:solidFill>
              </a:rPr>
              <a:t>. </a:t>
            </a:r>
            <a:r>
              <a:rPr lang="en-US" sz="1600" b="1" dirty="0">
                <a:solidFill>
                  <a:schemeClr val="tx1"/>
                </a:solidFill>
              </a:rPr>
              <a:t>Isolated</a:t>
            </a:r>
            <a:r>
              <a:rPr lang="en-US" sz="1600" dirty="0">
                <a:solidFill>
                  <a:schemeClr val="tx1"/>
                </a:solidFill>
              </a:rPr>
              <a:t>: Containers provide a high level of isolation between applications, ensuring that they do not interfere with each other</a:t>
            </a:r>
            <a:r>
              <a:rPr lang="en-US" sz="1600" dirty="0" smtClean="0">
                <a:solidFill>
                  <a:schemeClr val="tx1"/>
                </a:solidFill>
              </a:rPr>
              <a:t>.</a:t>
            </a:r>
            <a:br>
              <a:rPr lang="en-US" sz="1600" dirty="0" smtClean="0">
                <a:solidFill>
                  <a:schemeClr val="tx1"/>
                </a:solidFill>
              </a:rPr>
            </a:br>
            <a:r>
              <a:rPr lang="en-US" sz="1600" dirty="0" smtClean="0">
                <a:solidFill>
                  <a:schemeClr val="tx1"/>
                </a:solidFill>
              </a:rPr>
              <a:t>4</a:t>
            </a:r>
            <a:r>
              <a:rPr lang="en-US" sz="1600" dirty="0">
                <a:solidFill>
                  <a:schemeClr val="tx1"/>
                </a:solidFill>
              </a:rPr>
              <a:t>. </a:t>
            </a:r>
            <a:r>
              <a:rPr lang="en-US" sz="1600" b="1" dirty="0">
                <a:solidFill>
                  <a:schemeClr val="tx1"/>
                </a:solidFill>
              </a:rPr>
              <a:t>Efficient</a:t>
            </a:r>
            <a:r>
              <a:rPr lang="en-US" sz="1600" dirty="0">
                <a:solidFill>
                  <a:schemeClr val="tx1"/>
                </a:solidFill>
              </a:rPr>
              <a:t>: Containers provide efficient resource utilization, allowing multiple containers to run on a single host</a:t>
            </a:r>
            <a:r>
              <a:rPr lang="en-US" sz="1600" dirty="0" smtClean="0">
                <a:solidFill>
                  <a:schemeClr val="tx1"/>
                </a:solidFill>
              </a:rPr>
              <a:t>.</a:t>
            </a:r>
          </a:p>
          <a:p>
            <a:pPr marL="0" indent="0">
              <a:buNone/>
            </a:pPr>
            <a:endParaRPr lang="en-US" sz="2000" dirty="0" smtClean="0">
              <a:solidFill>
                <a:schemeClr val="tx1"/>
              </a:solidFill>
            </a:endParaRPr>
          </a:p>
          <a:p>
            <a:r>
              <a:rPr lang="en-US" sz="2000" dirty="0" smtClean="0">
                <a:solidFill>
                  <a:schemeClr val="accent5"/>
                </a:solidFill>
              </a:rPr>
              <a:t>What is Docker?</a:t>
            </a:r>
            <a:r>
              <a:rPr lang="en-US" dirty="0" smtClean="0">
                <a:solidFill>
                  <a:schemeClr val="tx1"/>
                </a:solidFill>
              </a:rPr>
              <a:t/>
            </a:r>
            <a:br>
              <a:rPr lang="en-US" dirty="0" smtClean="0">
                <a:solidFill>
                  <a:schemeClr val="tx1"/>
                </a:solidFill>
              </a:rPr>
            </a:br>
            <a:r>
              <a:rPr lang="en-US" sz="1600" dirty="0" smtClean="0">
                <a:solidFill>
                  <a:schemeClr val="tx1"/>
                </a:solidFill>
              </a:rPr>
              <a:t>Docker is a containerization platform that allows developers to package, ship, and run applications in containers. Containers are lightweight and portable, providing a consistent and reliable way to deploy applications across different environments.</a:t>
            </a:r>
            <a:endParaRPr lang="en-IN" sz="1600" dirty="0">
              <a:solidFill>
                <a:schemeClr val="tx1"/>
              </a:solidFill>
            </a:endParaRPr>
          </a:p>
        </p:txBody>
      </p:sp>
    </p:spTree>
    <p:extLst>
      <p:ext uri="{BB962C8B-B14F-4D97-AF65-F5344CB8AC3E}">
        <p14:creationId xmlns:p14="http://schemas.microsoft.com/office/powerpoint/2010/main" val="1305353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8695"/>
          </a:xfrm>
        </p:spPr>
        <p:txBody>
          <a:bodyPr/>
          <a:lstStyle/>
          <a:p>
            <a:r>
              <a:rPr lang="en-US" dirty="0" smtClean="0"/>
              <a:t>Docker Architecture</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12874" y="1562475"/>
            <a:ext cx="8261128" cy="4585108"/>
          </a:xfrm>
        </p:spPr>
      </p:pic>
    </p:spTree>
    <p:extLst>
      <p:ext uri="{BB962C8B-B14F-4D97-AF65-F5344CB8AC3E}">
        <p14:creationId xmlns:p14="http://schemas.microsoft.com/office/powerpoint/2010/main" val="2233258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29994" y="675249"/>
            <a:ext cx="8792308" cy="5542671"/>
          </a:xfrm>
        </p:spPr>
        <p:txBody>
          <a:bodyPr/>
          <a:lstStyle/>
          <a:p>
            <a:pPr marL="0" indent="0">
              <a:buNone/>
            </a:pPr>
            <a:r>
              <a:rPr lang="en-US" sz="2000" dirty="0" smtClean="0">
                <a:solidFill>
                  <a:srgbClr val="00B050"/>
                </a:solidFill>
              </a:rPr>
              <a:t>The </a:t>
            </a:r>
            <a:r>
              <a:rPr lang="en-US" sz="2000" dirty="0">
                <a:solidFill>
                  <a:srgbClr val="00B050"/>
                </a:solidFill>
              </a:rPr>
              <a:t>Docker architecture consists of the following components</a:t>
            </a:r>
            <a:r>
              <a:rPr lang="en-US" sz="2000" dirty="0" smtClean="0">
                <a:solidFill>
                  <a:srgbClr val="00B050"/>
                </a:solidFill>
              </a:rPr>
              <a:t>:</a:t>
            </a:r>
            <a:r>
              <a:rPr lang="en-US" dirty="0" smtClean="0"/>
              <a:t/>
            </a:r>
            <a:br>
              <a:rPr lang="en-US" dirty="0" smtClean="0"/>
            </a:br>
            <a:r>
              <a:rPr lang="en-US" dirty="0" smtClean="0"/>
              <a:t/>
            </a:r>
            <a:br>
              <a:rPr lang="en-US" dirty="0" smtClean="0"/>
            </a:br>
            <a:r>
              <a:rPr lang="en-US" b="1" dirty="0" smtClean="0">
                <a:solidFill>
                  <a:schemeClr val="accent5"/>
                </a:solidFill>
              </a:rPr>
              <a:t>1</a:t>
            </a:r>
            <a:r>
              <a:rPr lang="en-US" b="1" dirty="0">
                <a:solidFill>
                  <a:schemeClr val="accent5"/>
                </a:solidFill>
              </a:rPr>
              <a:t>. Docker </a:t>
            </a:r>
            <a:r>
              <a:rPr lang="en-US" b="1" dirty="0" smtClean="0">
                <a:solidFill>
                  <a:schemeClr val="accent5"/>
                </a:solidFill>
              </a:rPr>
              <a:t>Client</a:t>
            </a:r>
            <a:r>
              <a:rPr lang="en-US" dirty="0" smtClean="0"/>
              <a:t/>
            </a:r>
            <a:br>
              <a:rPr lang="en-US" dirty="0" smtClean="0"/>
            </a:br>
            <a:r>
              <a:rPr lang="en-US" sz="1600" dirty="0" smtClean="0"/>
              <a:t>The </a:t>
            </a:r>
            <a:r>
              <a:rPr lang="en-US" sz="1600" dirty="0"/>
              <a:t>Docker client is the primary interface for interacting with Docker. It </a:t>
            </a:r>
            <a:r>
              <a:rPr lang="en-US" sz="1600" dirty="0" smtClean="0"/>
              <a:t>provides </a:t>
            </a:r>
            <a:r>
              <a:rPr lang="en-US" sz="1600" dirty="0"/>
              <a:t>a command-line interface for creating, managing, and deleting </a:t>
            </a:r>
            <a:r>
              <a:rPr lang="en-US" sz="1600" dirty="0" smtClean="0"/>
              <a:t>containers</a:t>
            </a:r>
            <a:br>
              <a:rPr lang="en-US" sz="1600" dirty="0" smtClean="0"/>
            </a:br>
            <a:r>
              <a:rPr lang="en-US" sz="1600" dirty="0" smtClean="0"/>
              <a:t/>
            </a:r>
            <a:br>
              <a:rPr lang="en-US" sz="1600" dirty="0" smtClean="0"/>
            </a:br>
            <a:r>
              <a:rPr lang="en-US" b="1" dirty="0" smtClean="0">
                <a:solidFill>
                  <a:schemeClr val="accent5"/>
                </a:solidFill>
              </a:rPr>
              <a:t>2</a:t>
            </a:r>
            <a:r>
              <a:rPr lang="en-US" b="1" dirty="0">
                <a:solidFill>
                  <a:schemeClr val="accent5"/>
                </a:solidFill>
              </a:rPr>
              <a:t>. Docker </a:t>
            </a:r>
            <a:r>
              <a:rPr lang="en-US" b="1" dirty="0" smtClean="0">
                <a:solidFill>
                  <a:schemeClr val="accent5"/>
                </a:solidFill>
              </a:rPr>
              <a:t>Daemon</a:t>
            </a:r>
            <a:r>
              <a:rPr lang="en-US" sz="1600" dirty="0" smtClean="0"/>
              <a:t/>
            </a:r>
            <a:br>
              <a:rPr lang="en-US" sz="1600" dirty="0" smtClean="0"/>
            </a:br>
            <a:r>
              <a:rPr lang="en-US" sz="1600" dirty="0" smtClean="0"/>
              <a:t>The </a:t>
            </a:r>
            <a:r>
              <a:rPr lang="en-US" sz="1600" dirty="0"/>
              <a:t>Docker daemon is the background process that manages containers. It is responsible for creating, running, and managing containers</a:t>
            </a:r>
            <a:r>
              <a:rPr lang="en-US" sz="1600" dirty="0" smtClean="0"/>
              <a:t>.</a:t>
            </a:r>
            <a:br>
              <a:rPr lang="en-US" sz="1600" dirty="0" smtClean="0"/>
            </a:br>
            <a:r>
              <a:rPr lang="en-US" sz="1600" dirty="0" smtClean="0"/>
              <a:t/>
            </a:r>
            <a:br>
              <a:rPr lang="en-US" sz="1600" dirty="0" smtClean="0"/>
            </a:br>
            <a:r>
              <a:rPr lang="en-US" b="1" dirty="0" smtClean="0">
                <a:solidFill>
                  <a:schemeClr val="accent5"/>
                </a:solidFill>
              </a:rPr>
              <a:t>3</a:t>
            </a:r>
            <a:r>
              <a:rPr lang="en-US" b="1" dirty="0">
                <a:solidFill>
                  <a:schemeClr val="accent5"/>
                </a:solidFill>
              </a:rPr>
              <a:t>. Docker </a:t>
            </a:r>
            <a:r>
              <a:rPr lang="en-US" b="1" dirty="0" smtClean="0">
                <a:solidFill>
                  <a:schemeClr val="accent5"/>
                </a:solidFill>
              </a:rPr>
              <a:t>Images</a:t>
            </a:r>
            <a:r>
              <a:rPr lang="en-US" sz="1600" dirty="0" smtClean="0"/>
              <a:t/>
            </a:r>
            <a:br>
              <a:rPr lang="en-US" sz="1600" dirty="0" smtClean="0"/>
            </a:br>
            <a:r>
              <a:rPr lang="en-US" sz="1600" dirty="0" smtClean="0"/>
              <a:t>Docker </a:t>
            </a:r>
            <a:r>
              <a:rPr lang="en-US" sz="1600" dirty="0"/>
              <a:t>images are templates that contain the application code and dependencies. They are used to create containers</a:t>
            </a:r>
            <a:r>
              <a:rPr lang="en-US" sz="1600" dirty="0" smtClean="0"/>
              <a:t>.</a:t>
            </a:r>
            <a:br>
              <a:rPr lang="en-US" sz="1600" dirty="0" smtClean="0"/>
            </a:br>
            <a:r>
              <a:rPr lang="en-US" sz="1600" dirty="0" smtClean="0"/>
              <a:t/>
            </a:r>
            <a:br>
              <a:rPr lang="en-US" sz="1600" dirty="0" smtClean="0"/>
            </a:br>
            <a:r>
              <a:rPr lang="en-US" b="1" dirty="0" smtClean="0">
                <a:solidFill>
                  <a:schemeClr val="accent5"/>
                </a:solidFill>
              </a:rPr>
              <a:t>4</a:t>
            </a:r>
            <a:r>
              <a:rPr lang="en-US" b="1" dirty="0">
                <a:solidFill>
                  <a:schemeClr val="accent5"/>
                </a:solidFill>
              </a:rPr>
              <a:t>. Docker </a:t>
            </a:r>
            <a:r>
              <a:rPr lang="en-US" b="1" dirty="0" smtClean="0">
                <a:solidFill>
                  <a:schemeClr val="accent5"/>
                </a:solidFill>
              </a:rPr>
              <a:t>Registry</a:t>
            </a:r>
            <a:r>
              <a:rPr lang="en-US" sz="1600" dirty="0" smtClean="0"/>
              <a:t/>
            </a:r>
            <a:br>
              <a:rPr lang="en-US" sz="1600" dirty="0" smtClean="0"/>
            </a:br>
            <a:r>
              <a:rPr lang="en-US" sz="1600" dirty="0" smtClean="0"/>
              <a:t>The </a:t>
            </a:r>
            <a:r>
              <a:rPr lang="en-US" sz="1600" dirty="0"/>
              <a:t>Docker registry is a repository of Docker images. It provides a centralized location for storing and sharing images</a:t>
            </a:r>
            <a:r>
              <a:rPr lang="en-US" sz="1600" dirty="0" smtClean="0"/>
              <a:t>.</a:t>
            </a:r>
            <a:br>
              <a:rPr lang="en-US" sz="1600" dirty="0" smtClean="0"/>
            </a:br>
            <a:r>
              <a:rPr lang="en-US" sz="1600" dirty="0" smtClean="0"/>
              <a:t/>
            </a:r>
            <a:br>
              <a:rPr lang="en-US" sz="1600" dirty="0" smtClean="0"/>
            </a:br>
            <a:r>
              <a:rPr lang="en-US" b="1" dirty="0" smtClean="0">
                <a:solidFill>
                  <a:schemeClr val="accent5"/>
                </a:solidFill>
              </a:rPr>
              <a:t>5</a:t>
            </a:r>
            <a:r>
              <a:rPr lang="en-US" b="1" dirty="0">
                <a:solidFill>
                  <a:schemeClr val="accent5"/>
                </a:solidFill>
              </a:rPr>
              <a:t>. Docker </a:t>
            </a:r>
            <a:r>
              <a:rPr lang="en-US" b="1" dirty="0" smtClean="0">
                <a:solidFill>
                  <a:schemeClr val="accent5"/>
                </a:solidFill>
              </a:rPr>
              <a:t>Containers</a:t>
            </a:r>
            <a:r>
              <a:rPr lang="en-US" sz="1600" dirty="0" smtClean="0"/>
              <a:t/>
            </a:r>
            <a:br>
              <a:rPr lang="en-US" sz="1600" dirty="0" smtClean="0"/>
            </a:br>
            <a:r>
              <a:rPr lang="en-US" sz="1600" dirty="0" smtClean="0"/>
              <a:t>Docker </a:t>
            </a:r>
            <a:r>
              <a:rPr lang="en-US" sz="1600" dirty="0"/>
              <a:t>containers are lightweight and portable execution environments that contain the application code and dependencies.</a:t>
            </a:r>
            <a:endParaRPr lang="en-IN" sz="1600" dirty="0"/>
          </a:p>
        </p:txBody>
      </p:sp>
    </p:spTree>
    <p:extLst>
      <p:ext uri="{BB962C8B-B14F-4D97-AF65-F5344CB8AC3E}">
        <p14:creationId xmlns:p14="http://schemas.microsoft.com/office/powerpoint/2010/main" val="367402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4294967295"/>
          </p:nvPr>
        </p:nvSpPr>
        <p:spPr>
          <a:xfrm>
            <a:off x="0" y="717550"/>
            <a:ext cx="4183063" cy="5683250"/>
          </a:xfrm>
        </p:spPr>
        <p:txBody>
          <a:bodyPr/>
          <a:lstStyle/>
          <a:p>
            <a:pPr marL="0" indent="0">
              <a:buNone/>
            </a:pPr>
            <a:r>
              <a:rPr lang="en-US" sz="2000" dirty="0" smtClean="0"/>
              <a:t>         </a:t>
            </a:r>
            <a:r>
              <a:rPr lang="en-US" sz="2000" dirty="0" smtClean="0">
                <a:solidFill>
                  <a:srgbClr val="00B050"/>
                </a:solidFill>
              </a:rPr>
              <a:t>Docker File</a:t>
            </a:r>
            <a:r>
              <a:rPr lang="en-IN" sz="2000" dirty="0" smtClean="0">
                <a:solidFill>
                  <a:srgbClr val="00B050"/>
                </a:solidFill>
              </a:rPr>
              <a:t>:</a:t>
            </a:r>
            <a:r>
              <a:rPr lang="en-IN" dirty="0" smtClean="0">
                <a:solidFill>
                  <a:srgbClr val="00B050"/>
                </a:solidFill>
              </a:rPr>
              <a:t/>
            </a:r>
            <a:br>
              <a:rPr lang="en-IN" dirty="0" smtClean="0">
                <a:solidFill>
                  <a:srgbClr val="00B050"/>
                </a:solidFill>
              </a:rPr>
            </a:br>
            <a:endParaRPr lang="en-IN" dirty="0" smtClean="0">
              <a:solidFill>
                <a:srgbClr val="00B050"/>
              </a:solidFill>
            </a:endParaRPr>
          </a:p>
          <a:p>
            <a:endParaRPr lang="en-US" dirty="0" smtClean="0"/>
          </a:p>
        </p:txBody>
      </p:sp>
      <p:sp>
        <p:nvSpPr>
          <p:cNvPr id="6" name="Content Placeholder 5"/>
          <p:cNvSpPr>
            <a:spLocks noGrp="1"/>
          </p:cNvSpPr>
          <p:nvPr>
            <p:ph sz="half" idx="4294967295"/>
          </p:nvPr>
        </p:nvSpPr>
        <p:spPr>
          <a:xfrm>
            <a:off x="7019779" y="1252538"/>
            <a:ext cx="2700996" cy="4922837"/>
          </a:xfrm>
        </p:spPr>
        <p:txBody>
          <a:bodyPr/>
          <a:lstStyle/>
          <a:p>
            <a:pPr marL="0" indent="0">
              <a:buNone/>
            </a:pPr>
            <a:r>
              <a:rPr lang="en-US" sz="2000" dirty="0">
                <a:solidFill>
                  <a:schemeClr val="accent5"/>
                </a:solidFill>
              </a:rPr>
              <a:t>How the </a:t>
            </a:r>
            <a:r>
              <a:rPr lang="en-US" sz="2000" dirty="0" err="1">
                <a:solidFill>
                  <a:schemeClr val="accent5"/>
                </a:solidFill>
              </a:rPr>
              <a:t>Dockerfile</a:t>
            </a:r>
            <a:r>
              <a:rPr lang="en-US" sz="2000" dirty="0">
                <a:solidFill>
                  <a:schemeClr val="accent5"/>
                </a:solidFill>
              </a:rPr>
              <a:t> </a:t>
            </a:r>
            <a:r>
              <a:rPr lang="en-US" sz="2000" dirty="0" smtClean="0">
                <a:solidFill>
                  <a:schemeClr val="accent5"/>
                </a:solidFill>
              </a:rPr>
              <a:t>Works</a:t>
            </a:r>
            <a:r>
              <a:rPr lang="en-US" dirty="0" smtClean="0"/>
              <a:t/>
            </a:r>
            <a:br>
              <a:rPr lang="en-US" dirty="0" smtClean="0"/>
            </a:br>
            <a:r>
              <a:rPr lang="en-US" dirty="0" smtClean="0"/>
              <a:t/>
            </a:r>
            <a:br>
              <a:rPr lang="en-US" dirty="0" smtClean="0"/>
            </a:br>
            <a:r>
              <a:rPr lang="en-US" dirty="0" smtClean="0"/>
              <a:t>1</a:t>
            </a:r>
            <a:r>
              <a:rPr lang="en-US" dirty="0"/>
              <a:t>. Build the </a:t>
            </a:r>
            <a:r>
              <a:rPr lang="en-US" dirty="0" smtClean="0"/>
              <a:t>image:</a:t>
            </a:r>
            <a:br>
              <a:rPr lang="en-US" dirty="0" smtClean="0"/>
            </a:br>
            <a:r>
              <a:rPr lang="en-US" dirty="0" smtClean="0"/>
              <a:t>2</a:t>
            </a:r>
            <a:r>
              <a:rPr lang="en-US" dirty="0"/>
              <a:t>. Create a </a:t>
            </a:r>
            <a:r>
              <a:rPr lang="en-US" dirty="0" smtClean="0"/>
              <a:t>container:</a:t>
            </a:r>
            <a:br>
              <a:rPr lang="en-US" dirty="0" smtClean="0"/>
            </a:br>
            <a:r>
              <a:rPr lang="en-US" dirty="0" smtClean="0"/>
              <a:t>3</a:t>
            </a:r>
            <a:r>
              <a:rPr lang="en-US" dirty="0"/>
              <a:t>. Start the </a:t>
            </a:r>
            <a:r>
              <a:rPr lang="en-US" dirty="0" smtClean="0"/>
              <a:t>container:</a:t>
            </a:r>
            <a:br>
              <a:rPr lang="en-US" dirty="0" smtClean="0"/>
            </a:br>
            <a:r>
              <a:rPr lang="en-US" dirty="0" smtClean="0"/>
              <a:t>4</a:t>
            </a:r>
            <a:r>
              <a:rPr lang="en-US" dirty="0"/>
              <a:t>. Expose the port</a:t>
            </a:r>
            <a:r>
              <a:rPr lang="en-US" dirty="0" smtClean="0"/>
              <a:t>:</a:t>
            </a:r>
            <a:endParaRPr lang="en-IN" dirty="0"/>
          </a:p>
        </p:txBody>
      </p:sp>
      <p:pic>
        <p:nvPicPr>
          <p:cNvPr id="4" name="Picture 3"/>
          <p:cNvPicPr>
            <a:picLocks noChangeAspect="1"/>
          </p:cNvPicPr>
          <p:nvPr/>
        </p:nvPicPr>
        <p:blipFill>
          <a:blip r:embed="rId2"/>
          <a:stretch>
            <a:fillRect/>
          </a:stretch>
        </p:blipFill>
        <p:spPr>
          <a:xfrm>
            <a:off x="815925" y="1252026"/>
            <a:ext cx="5697417" cy="4923692"/>
          </a:xfrm>
          <a:prstGeom prst="rect">
            <a:avLst/>
          </a:prstGeom>
        </p:spPr>
      </p:pic>
    </p:spTree>
    <p:extLst>
      <p:ext uri="{BB962C8B-B14F-4D97-AF65-F5344CB8AC3E}">
        <p14:creationId xmlns:p14="http://schemas.microsoft.com/office/powerpoint/2010/main" val="3198168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36098"/>
            <a:ext cx="8596668" cy="829994"/>
          </a:xfrm>
        </p:spPr>
        <p:txBody>
          <a:bodyPr>
            <a:normAutofit fontScale="90000"/>
          </a:bodyPr>
          <a:lstStyle/>
          <a:p>
            <a:r>
              <a:rPr lang="en-IN" sz="2700" b="1" dirty="0"/>
              <a:t>Multi-Stage </a:t>
            </a:r>
            <a:r>
              <a:rPr lang="en-IN" sz="2700" b="1" dirty="0" err="1" smtClean="0"/>
              <a:t>Dockerization</a:t>
            </a:r>
            <a:r>
              <a:rPr lang="en-IN" sz="2700" b="1" dirty="0" smtClean="0"/>
              <a:t>:</a:t>
            </a:r>
            <a:r>
              <a:rPr lang="en-IN" b="1" dirty="0" smtClean="0"/>
              <a:t/>
            </a:r>
            <a:br>
              <a:rPr lang="en-IN" b="1" dirty="0" smtClean="0"/>
            </a:br>
            <a:r>
              <a:rPr lang="en-US" sz="1800" dirty="0">
                <a:solidFill>
                  <a:schemeClr val="tx1"/>
                </a:solidFill>
              </a:rPr>
              <a:t>Multi-stage Docker builds help optimize your Docker images by separating the build environment from the runtime environment. This reduces the final image size and improves security by excluding unnecessary build tools.</a:t>
            </a:r>
            <a:r>
              <a:rPr lang="en-IN" sz="1800" b="1" dirty="0" smtClean="0">
                <a:solidFill>
                  <a:schemeClr val="tx1"/>
                </a:solidFill>
              </a:rPr>
              <a:t/>
            </a:r>
            <a:br>
              <a:rPr lang="en-IN" sz="1800" b="1" dirty="0" smtClean="0">
                <a:solidFill>
                  <a:schemeClr val="tx1"/>
                </a:solidFill>
              </a:rPr>
            </a:br>
            <a:r>
              <a:rPr lang="en-IN" dirty="0"/>
              <a:t/>
            </a:r>
            <a:br>
              <a:rPr lang="en-IN" dirty="0"/>
            </a:br>
            <a:endParaRPr lang="en-IN" dirty="0"/>
          </a:p>
        </p:txBody>
      </p:sp>
      <p:sp>
        <p:nvSpPr>
          <p:cNvPr id="3" name="Content Placeholder 2"/>
          <p:cNvSpPr>
            <a:spLocks noGrp="1"/>
          </p:cNvSpPr>
          <p:nvPr>
            <p:ph sz="half" idx="1"/>
          </p:nvPr>
        </p:nvSpPr>
        <p:spPr>
          <a:xfrm>
            <a:off x="677335" y="1814732"/>
            <a:ext cx="3880597" cy="4459459"/>
          </a:xfrm>
        </p:spPr>
        <p:txBody>
          <a:bodyPr/>
          <a:lstStyle/>
          <a:p>
            <a:r>
              <a:rPr lang="en-US" b="1" dirty="0" smtClean="0">
                <a:solidFill>
                  <a:schemeClr val="accent5"/>
                </a:solidFill>
              </a:rPr>
              <a:t>Single Stage</a:t>
            </a:r>
            <a:br>
              <a:rPr lang="en-US" b="1" dirty="0" smtClean="0">
                <a:solidFill>
                  <a:schemeClr val="accent5"/>
                </a:solidFill>
              </a:rPr>
            </a:br>
            <a:r>
              <a:rPr lang="en-US" dirty="0" smtClean="0">
                <a:solidFill>
                  <a:schemeClr val="accent5"/>
                </a:solidFill>
              </a:rPr>
              <a:t/>
            </a:r>
            <a:br>
              <a:rPr lang="en-US" dirty="0" smtClean="0">
                <a:solidFill>
                  <a:schemeClr val="accent5"/>
                </a:solidFill>
              </a:rPr>
            </a:br>
            <a:endParaRPr lang="en-IN" dirty="0">
              <a:solidFill>
                <a:schemeClr val="accent5"/>
              </a:solidFill>
            </a:endParaRPr>
          </a:p>
        </p:txBody>
      </p:sp>
      <p:sp>
        <p:nvSpPr>
          <p:cNvPr id="4" name="Content Placeholder 3"/>
          <p:cNvSpPr>
            <a:spLocks noGrp="1"/>
          </p:cNvSpPr>
          <p:nvPr>
            <p:ph sz="half" idx="2"/>
          </p:nvPr>
        </p:nvSpPr>
        <p:spPr>
          <a:xfrm>
            <a:off x="5219115" y="1814732"/>
            <a:ext cx="5050300" cy="4459459"/>
          </a:xfrm>
        </p:spPr>
        <p:txBody>
          <a:bodyPr/>
          <a:lstStyle/>
          <a:p>
            <a:r>
              <a:rPr lang="en-US" b="1" dirty="0" smtClean="0">
                <a:solidFill>
                  <a:schemeClr val="accent5"/>
                </a:solidFill>
              </a:rPr>
              <a:t>Multistage</a:t>
            </a:r>
            <a:br>
              <a:rPr lang="en-US" b="1" dirty="0" smtClean="0">
                <a:solidFill>
                  <a:schemeClr val="accent5"/>
                </a:solidFill>
              </a:rPr>
            </a:br>
            <a:r>
              <a:rPr lang="en-US" dirty="0" smtClean="0"/>
              <a:t/>
            </a:r>
            <a:br>
              <a:rPr lang="en-US" dirty="0" smtClean="0"/>
            </a:br>
            <a:endParaRPr lang="en-IN" dirty="0"/>
          </a:p>
        </p:txBody>
      </p:sp>
      <p:pic>
        <p:nvPicPr>
          <p:cNvPr id="5" name="Picture 4"/>
          <p:cNvPicPr>
            <a:picLocks noChangeAspect="1"/>
          </p:cNvPicPr>
          <p:nvPr/>
        </p:nvPicPr>
        <p:blipFill>
          <a:blip r:embed="rId2"/>
          <a:stretch>
            <a:fillRect/>
          </a:stretch>
        </p:blipFill>
        <p:spPr>
          <a:xfrm>
            <a:off x="930226" y="2433711"/>
            <a:ext cx="3163472" cy="2996418"/>
          </a:xfrm>
          <a:prstGeom prst="rect">
            <a:avLst/>
          </a:prstGeom>
        </p:spPr>
      </p:pic>
      <p:pic>
        <p:nvPicPr>
          <p:cNvPr id="6" name="Picture 5"/>
          <p:cNvPicPr>
            <a:picLocks noChangeAspect="1"/>
          </p:cNvPicPr>
          <p:nvPr/>
        </p:nvPicPr>
        <p:blipFill>
          <a:blip r:embed="rId3"/>
          <a:stretch>
            <a:fillRect/>
          </a:stretch>
        </p:blipFill>
        <p:spPr>
          <a:xfrm>
            <a:off x="5219114" y="2433711"/>
            <a:ext cx="5838092" cy="3840480"/>
          </a:xfrm>
          <a:prstGeom prst="rect">
            <a:avLst/>
          </a:prstGeom>
        </p:spPr>
      </p:pic>
    </p:spTree>
    <p:extLst>
      <p:ext uri="{BB962C8B-B14F-4D97-AF65-F5344CB8AC3E}">
        <p14:creationId xmlns:p14="http://schemas.microsoft.com/office/powerpoint/2010/main" val="2632927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77334" y="-886265"/>
            <a:ext cx="8596668" cy="154745"/>
          </a:xfrm>
        </p:spPr>
        <p:txBody>
          <a:bodyPr>
            <a:normAutofit fontScale="90000"/>
          </a:bodyPr>
          <a:lstStyle/>
          <a:p>
            <a:endParaRPr lang="en-IN"/>
          </a:p>
        </p:txBody>
      </p:sp>
      <p:sp>
        <p:nvSpPr>
          <p:cNvPr id="6" name="Content Placeholder 5"/>
          <p:cNvSpPr>
            <a:spLocks noGrp="1"/>
          </p:cNvSpPr>
          <p:nvPr>
            <p:ph sz="half" idx="1"/>
          </p:nvPr>
        </p:nvSpPr>
        <p:spPr>
          <a:xfrm>
            <a:off x="677334" y="689316"/>
            <a:ext cx="4184035" cy="5650667"/>
          </a:xfrm>
        </p:spPr>
        <p:txBody>
          <a:bodyPr>
            <a:normAutofit fontScale="92500" lnSpcReduction="10000"/>
          </a:bodyPr>
          <a:lstStyle/>
          <a:p>
            <a:pPr marL="0" indent="0">
              <a:buNone/>
            </a:pPr>
            <a:r>
              <a:rPr lang="en-US" sz="2400" dirty="0">
                <a:solidFill>
                  <a:srgbClr val="00B050"/>
                </a:solidFill>
              </a:rPr>
              <a:t>Docker </a:t>
            </a:r>
            <a:r>
              <a:rPr lang="en-US" sz="2400" dirty="0" smtClean="0">
                <a:solidFill>
                  <a:srgbClr val="00B050"/>
                </a:solidFill>
              </a:rPr>
              <a:t>Networking:</a:t>
            </a:r>
            <a:br>
              <a:rPr lang="en-US" sz="2400" dirty="0" smtClean="0">
                <a:solidFill>
                  <a:srgbClr val="00B050"/>
                </a:solidFill>
              </a:rPr>
            </a:br>
            <a:r>
              <a:rPr lang="en-US" dirty="0" smtClean="0"/>
              <a:t/>
            </a:r>
            <a:br>
              <a:rPr lang="en-US" dirty="0" smtClean="0"/>
            </a:br>
            <a:r>
              <a:rPr lang="en-US" dirty="0" smtClean="0"/>
              <a:t>Docker </a:t>
            </a:r>
            <a:r>
              <a:rPr lang="en-US" dirty="0"/>
              <a:t>networking allows containers to communicate with each other and with the host machine</a:t>
            </a:r>
            <a:r>
              <a:rPr lang="en-US" dirty="0" smtClean="0"/>
              <a:t>.</a:t>
            </a:r>
            <a:br>
              <a:rPr lang="en-US" dirty="0" smtClean="0"/>
            </a:br>
            <a:r>
              <a:rPr lang="en-US" dirty="0" smtClean="0"/>
              <a:t/>
            </a:r>
            <a:br>
              <a:rPr lang="en-US" dirty="0" smtClean="0"/>
            </a:br>
            <a:r>
              <a:rPr lang="en-US" dirty="0" smtClean="0"/>
              <a:t>Types </a:t>
            </a:r>
            <a:r>
              <a:rPr lang="en-US" dirty="0"/>
              <a:t>of Docker </a:t>
            </a:r>
            <a:r>
              <a:rPr lang="en-US" dirty="0" smtClean="0"/>
              <a:t>Networks</a:t>
            </a:r>
            <a:br>
              <a:rPr lang="en-US" dirty="0" smtClean="0"/>
            </a:br>
            <a:r>
              <a:rPr lang="en-US" b="1" dirty="0" smtClean="0">
                <a:solidFill>
                  <a:schemeClr val="accent4"/>
                </a:solidFill>
              </a:rPr>
              <a:t>1</a:t>
            </a:r>
            <a:r>
              <a:rPr lang="en-US" b="1" dirty="0">
                <a:solidFill>
                  <a:schemeClr val="accent4"/>
                </a:solidFill>
              </a:rPr>
              <a:t>. Bridge network</a:t>
            </a:r>
            <a:r>
              <a:rPr lang="en-US" dirty="0">
                <a:solidFill>
                  <a:schemeClr val="accent4"/>
                </a:solidFill>
              </a:rPr>
              <a:t>: </a:t>
            </a:r>
            <a:r>
              <a:rPr lang="en-US" dirty="0" smtClean="0"/>
              <a:t/>
            </a:r>
            <a:br>
              <a:rPr lang="en-US" dirty="0" smtClean="0"/>
            </a:br>
            <a:r>
              <a:rPr lang="en-US" dirty="0" smtClean="0"/>
              <a:t>A </a:t>
            </a:r>
            <a:r>
              <a:rPr lang="en-US" dirty="0"/>
              <a:t>bridge network is the default network type in Docker. It allows containers to communicate with each other and with the host machine</a:t>
            </a:r>
            <a:r>
              <a:rPr lang="en-US" dirty="0" smtClean="0"/>
              <a:t>.</a:t>
            </a:r>
            <a:br>
              <a:rPr lang="en-US" dirty="0" smtClean="0"/>
            </a:br>
            <a:r>
              <a:rPr lang="en-US" b="1" dirty="0" smtClean="0">
                <a:solidFill>
                  <a:schemeClr val="accent4"/>
                </a:solidFill>
              </a:rPr>
              <a:t>2</a:t>
            </a:r>
            <a:r>
              <a:rPr lang="en-US" b="1" dirty="0">
                <a:solidFill>
                  <a:schemeClr val="accent4"/>
                </a:solidFill>
              </a:rPr>
              <a:t>. Host network</a:t>
            </a:r>
            <a:r>
              <a:rPr lang="en-US" b="1" dirty="0" smtClean="0">
                <a:solidFill>
                  <a:schemeClr val="accent4"/>
                </a:solidFill>
              </a:rPr>
              <a:t>:</a:t>
            </a:r>
            <a:r>
              <a:rPr lang="en-US" b="1" dirty="0" smtClean="0"/>
              <a:t/>
            </a:r>
            <a:br>
              <a:rPr lang="en-US" b="1" dirty="0" smtClean="0"/>
            </a:br>
            <a:r>
              <a:rPr lang="en-US" b="1" dirty="0" smtClean="0"/>
              <a:t> </a:t>
            </a:r>
            <a:r>
              <a:rPr lang="en-US" dirty="0"/>
              <a:t>A host network allows containers to use the host machine's network stack</a:t>
            </a:r>
            <a:r>
              <a:rPr lang="en-US" dirty="0" smtClean="0"/>
              <a:t>.</a:t>
            </a:r>
            <a:br>
              <a:rPr lang="en-US" dirty="0" smtClean="0"/>
            </a:br>
            <a:r>
              <a:rPr lang="en-US" b="1" dirty="0" smtClean="0">
                <a:solidFill>
                  <a:schemeClr val="accent4"/>
                </a:solidFill>
              </a:rPr>
              <a:t>3</a:t>
            </a:r>
            <a:r>
              <a:rPr lang="en-US" b="1" dirty="0">
                <a:solidFill>
                  <a:schemeClr val="accent4"/>
                </a:solidFill>
              </a:rPr>
              <a:t>. None network: </a:t>
            </a:r>
            <a:r>
              <a:rPr lang="en-US" b="1" dirty="0" smtClean="0"/>
              <a:t/>
            </a:r>
            <a:br>
              <a:rPr lang="en-US" b="1" dirty="0" smtClean="0"/>
            </a:br>
            <a:r>
              <a:rPr lang="en-US" dirty="0" smtClean="0"/>
              <a:t>A </a:t>
            </a:r>
            <a:r>
              <a:rPr lang="en-US" dirty="0"/>
              <a:t>none network disables networking for a container</a:t>
            </a:r>
            <a:r>
              <a:rPr lang="en-US" dirty="0" smtClean="0"/>
              <a:t>.</a:t>
            </a:r>
            <a:br>
              <a:rPr lang="en-US" dirty="0" smtClean="0"/>
            </a:br>
            <a:r>
              <a:rPr lang="en-US" b="1" dirty="0" smtClean="0">
                <a:solidFill>
                  <a:schemeClr val="accent4"/>
                </a:solidFill>
              </a:rPr>
              <a:t>4</a:t>
            </a:r>
            <a:r>
              <a:rPr lang="en-US" b="1" dirty="0">
                <a:solidFill>
                  <a:schemeClr val="accent4"/>
                </a:solidFill>
              </a:rPr>
              <a:t>. Overlay network: </a:t>
            </a:r>
            <a:r>
              <a:rPr lang="en-US" b="1" dirty="0" smtClean="0"/>
              <a:t/>
            </a:r>
            <a:br>
              <a:rPr lang="en-US" b="1" dirty="0" smtClean="0"/>
            </a:br>
            <a:r>
              <a:rPr lang="en-US" dirty="0" smtClean="0"/>
              <a:t>An </a:t>
            </a:r>
            <a:r>
              <a:rPr lang="en-US" dirty="0"/>
              <a:t>overlay network allows containers to communicate with each other across multiple hosts.</a:t>
            </a:r>
            <a:endParaRPr lang="en-IN" dirty="0"/>
          </a:p>
        </p:txBody>
      </p:sp>
      <p:graphicFrame>
        <p:nvGraphicFramePr>
          <p:cNvPr id="12" name="Content Placeholder 11"/>
          <p:cNvGraphicFramePr>
            <a:graphicFrameLocks noGrp="1"/>
          </p:cNvGraphicFramePr>
          <p:nvPr>
            <p:ph sz="half" idx="2"/>
            <p:extLst>
              <p:ext uri="{D42A27DB-BD31-4B8C-83A1-F6EECF244321}">
                <p14:modId xmlns:p14="http://schemas.microsoft.com/office/powerpoint/2010/main" val="813965346"/>
              </p:ext>
            </p:extLst>
          </p:nvPr>
        </p:nvGraphicFramePr>
        <p:xfrm>
          <a:off x="5089525" y="320430"/>
          <a:ext cx="6474118" cy="6142328"/>
        </p:xfrm>
        <a:graphic>
          <a:graphicData uri="http://schemas.openxmlformats.org/drawingml/2006/table">
            <a:tbl>
              <a:tblPr firstRow="1" bandRow="1">
                <a:tableStyleId>{5C22544A-7EE6-4342-B048-85BDC9FD1C3A}</a:tableStyleId>
              </a:tblPr>
              <a:tblGrid>
                <a:gridCol w="3322955">
                  <a:extLst>
                    <a:ext uri="{9D8B030D-6E8A-4147-A177-3AD203B41FA5}">
                      <a16:colId xmlns:a16="http://schemas.microsoft.com/office/drawing/2014/main" val="1798157324"/>
                    </a:ext>
                  </a:extLst>
                </a:gridCol>
                <a:gridCol w="3151163">
                  <a:extLst>
                    <a:ext uri="{9D8B030D-6E8A-4147-A177-3AD203B41FA5}">
                      <a16:colId xmlns:a16="http://schemas.microsoft.com/office/drawing/2014/main" val="3798517078"/>
                    </a:ext>
                  </a:extLst>
                </a:gridCol>
              </a:tblGrid>
              <a:tr h="556510">
                <a:tc>
                  <a:txBody>
                    <a:bodyPr/>
                    <a:lstStyle/>
                    <a:p>
                      <a:pPr algn="l"/>
                      <a:r>
                        <a:rPr lang="en-IN" b="1" dirty="0">
                          <a:solidFill>
                            <a:srgbClr val="404040"/>
                          </a:solidFill>
                          <a:effectLst/>
                        </a:rPr>
                        <a:t>Command</a:t>
                      </a:r>
                    </a:p>
                  </a:txBody>
                  <a:tcPr marR="130645" marT="65322" marB="65322" anchor="ctr"/>
                </a:tc>
                <a:tc>
                  <a:txBody>
                    <a:bodyPr/>
                    <a:lstStyle/>
                    <a:p>
                      <a:pPr algn="l"/>
                      <a:r>
                        <a:rPr lang="en-IN" b="1" dirty="0">
                          <a:solidFill>
                            <a:srgbClr val="404040"/>
                          </a:solidFill>
                          <a:effectLst/>
                        </a:rPr>
                        <a:t>Description</a:t>
                      </a:r>
                    </a:p>
                  </a:txBody>
                  <a:tcPr marL="130645" marR="130645" marT="65322" marB="65322" anchor="ctr"/>
                </a:tc>
                <a:extLst>
                  <a:ext uri="{0D108BD9-81ED-4DB2-BD59-A6C34878D82A}">
                    <a16:rowId xmlns:a16="http://schemas.microsoft.com/office/drawing/2014/main" val="2776731626"/>
                  </a:ext>
                </a:extLst>
              </a:tr>
              <a:tr h="556510">
                <a:tc>
                  <a:txBody>
                    <a:bodyPr/>
                    <a:lstStyle/>
                    <a:p>
                      <a:r>
                        <a:rPr lang="en-IN">
                          <a:effectLst/>
                        </a:rPr>
                        <a:t>docker network ls</a:t>
                      </a:r>
                    </a:p>
                  </a:txBody>
                  <a:tcPr marR="130645" marT="65322" marB="65322" anchor="ctr"/>
                </a:tc>
                <a:tc>
                  <a:txBody>
                    <a:bodyPr/>
                    <a:lstStyle/>
                    <a:p>
                      <a:r>
                        <a:rPr lang="en-IN" dirty="0">
                          <a:effectLst/>
                        </a:rPr>
                        <a:t>List all networks</a:t>
                      </a:r>
                    </a:p>
                  </a:txBody>
                  <a:tcPr marL="130645" marR="130645" marT="65322" marB="65322" anchor="ctr"/>
                </a:tc>
                <a:extLst>
                  <a:ext uri="{0D108BD9-81ED-4DB2-BD59-A6C34878D82A}">
                    <a16:rowId xmlns:a16="http://schemas.microsoft.com/office/drawing/2014/main" val="1470049651"/>
                  </a:ext>
                </a:extLst>
              </a:tr>
              <a:tr h="621680">
                <a:tc>
                  <a:txBody>
                    <a:bodyPr/>
                    <a:lstStyle/>
                    <a:p>
                      <a:r>
                        <a:rPr lang="en-IN">
                          <a:effectLst/>
                        </a:rPr>
                        <a:t>docker network inspect &lt;network_name&gt;</a:t>
                      </a:r>
                    </a:p>
                  </a:txBody>
                  <a:tcPr marR="130645" marT="65322" marB="65322" anchor="ctr"/>
                </a:tc>
                <a:tc>
                  <a:txBody>
                    <a:bodyPr/>
                    <a:lstStyle/>
                    <a:p>
                      <a:r>
                        <a:rPr lang="en-IN">
                          <a:effectLst/>
                        </a:rPr>
                        <a:t>Show detailed network configuration</a:t>
                      </a:r>
                    </a:p>
                  </a:txBody>
                  <a:tcPr marL="130645" marR="130645" marT="65322" marB="65322" anchor="ctr"/>
                </a:tc>
                <a:extLst>
                  <a:ext uri="{0D108BD9-81ED-4DB2-BD59-A6C34878D82A}">
                    <a16:rowId xmlns:a16="http://schemas.microsoft.com/office/drawing/2014/main" val="2752252144"/>
                  </a:ext>
                </a:extLst>
              </a:tr>
              <a:tr h="621680">
                <a:tc>
                  <a:txBody>
                    <a:bodyPr/>
                    <a:lstStyle/>
                    <a:p>
                      <a:r>
                        <a:rPr lang="en-IN">
                          <a:effectLst/>
                        </a:rPr>
                        <a:t>docker network create &lt;network_name&gt;</a:t>
                      </a:r>
                    </a:p>
                  </a:txBody>
                  <a:tcPr marR="130645" marT="65322" marB="65322" anchor="ctr"/>
                </a:tc>
                <a:tc>
                  <a:txBody>
                    <a:bodyPr/>
                    <a:lstStyle/>
                    <a:p>
                      <a:r>
                        <a:rPr lang="en-IN" dirty="0">
                          <a:effectLst/>
                        </a:rPr>
                        <a:t>Create a custom network</a:t>
                      </a:r>
                    </a:p>
                  </a:txBody>
                  <a:tcPr marL="130645" marR="130645" marT="65322" marB="65322" anchor="ctr"/>
                </a:tc>
                <a:extLst>
                  <a:ext uri="{0D108BD9-81ED-4DB2-BD59-A6C34878D82A}">
                    <a16:rowId xmlns:a16="http://schemas.microsoft.com/office/drawing/2014/main" val="2709778557"/>
                  </a:ext>
                </a:extLst>
              </a:tr>
              <a:tr h="621680">
                <a:tc>
                  <a:txBody>
                    <a:bodyPr/>
                    <a:lstStyle/>
                    <a:p>
                      <a:r>
                        <a:rPr lang="en-IN">
                          <a:effectLst/>
                        </a:rPr>
                        <a:t>docker network rm &lt;network_name&gt;</a:t>
                      </a:r>
                    </a:p>
                  </a:txBody>
                  <a:tcPr marR="130645" marT="65322" marB="65322" anchor="ctr"/>
                </a:tc>
                <a:tc>
                  <a:txBody>
                    <a:bodyPr/>
                    <a:lstStyle/>
                    <a:p>
                      <a:r>
                        <a:rPr lang="en-IN">
                          <a:effectLst/>
                        </a:rPr>
                        <a:t>Remove a network</a:t>
                      </a:r>
                    </a:p>
                  </a:txBody>
                  <a:tcPr marL="130645" marR="130645" marT="65322" marB="65322" anchor="ctr"/>
                </a:tc>
                <a:extLst>
                  <a:ext uri="{0D108BD9-81ED-4DB2-BD59-A6C34878D82A}">
                    <a16:rowId xmlns:a16="http://schemas.microsoft.com/office/drawing/2014/main" val="1379216573"/>
                  </a:ext>
                </a:extLst>
              </a:tr>
              <a:tr h="556510">
                <a:tc>
                  <a:txBody>
                    <a:bodyPr/>
                    <a:lstStyle/>
                    <a:p>
                      <a:r>
                        <a:rPr lang="en-IN" dirty="0" err="1">
                          <a:effectLst/>
                        </a:rPr>
                        <a:t>docker</a:t>
                      </a:r>
                      <a:r>
                        <a:rPr lang="en-IN" dirty="0">
                          <a:effectLst/>
                        </a:rPr>
                        <a:t> network prune</a:t>
                      </a:r>
                    </a:p>
                  </a:txBody>
                  <a:tcPr marR="130645" marT="65322" marB="65322" anchor="ctr"/>
                </a:tc>
                <a:tc>
                  <a:txBody>
                    <a:bodyPr/>
                    <a:lstStyle/>
                    <a:p>
                      <a:r>
                        <a:rPr lang="en-IN" dirty="0">
                          <a:effectLst/>
                        </a:rPr>
                        <a:t>Remove all unused networks</a:t>
                      </a:r>
                    </a:p>
                  </a:txBody>
                  <a:tcPr marL="130645" marR="130645" marT="65322" marB="65322" anchor="ctr"/>
                </a:tc>
                <a:extLst>
                  <a:ext uri="{0D108BD9-81ED-4DB2-BD59-A6C34878D82A}">
                    <a16:rowId xmlns:a16="http://schemas.microsoft.com/office/drawing/2014/main" val="582622938"/>
                  </a:ext>
                </a:extLst>
              </a:tr>
              <a:tr h="872738">
                <a:tc>
                  <a:txBody>
                    <a:bodyPr/>
                    <a:lstStyle/>
                    <a:p>
                      <a:r>
                        <a:rPr lang="en-US" dirty="0" err="1">
                          <a:effectLst/>
                        </a:rPr>
                        <a:t>docker</a:t>
                      </a:r>
                      <a:r>
                        <a:rPr lang="en-US" dirty="0">
                          <a:effectLst/>
                        </a:rPr>
                        <a:t> run --network=&lt;</a:t>
                      </a:r>
                      <a:r>
                        <a:rPr lang="en-US" dirty="0" err="1">
                          <a:effectLst/>
                        </a:rPr>
                        <a:t>network_name</a:t>
                      </a:r>
                      <a:r>
                        <a:rPr lang="en-US" dirty="0">
                          <a:effectLst/>
                        </a:rPr>
                        <a:t>&gt; &lt;image&gt;</a:t>
                      </a:r>
                    </a:p>
                  </a:txBody>
                  <a:tcPr marR="130645" marT="65322" marB="65322" anchor="ctr"/>
                </a:tc>
                <a:tc>
                  <a:txBody>
                    <a:bodyPr/>
                    <a:lstStyle/>
                    <a:p>
                      <a:r>
                        <a:rPr lang="en-US">
                          <a:effectLst/>
                        </a:rPr>
                        <a:t>Start a container on a specific network</a:t>
                      </a:r>
                    </a:p>
                  </a:txBody>
                  <a:tcPr marL="130645" marR="130645" marT="65322" marB="65322" anchor="ctr"/>
                </a:tc>
                <a:extLst>
                  <a:ext uri="{0D108BD9-81ED-4DB2-BD59-A6C34878D82A}">
                    <a16:rowId xmlns:a16="http://schemas.microsoft.com/office/drawing/2014/main" val="2786227307"/>
                  </a:ext>
                </a:extLst>
              </a:tr>
              <a:tr h="621680">
                <a:tc>
                  <a:txBody>
                    <a:bodyPr/>
                    <a:lstStyle/>
                    <a:p>
                      <a:r>
                        <a:rPr lang="en-US">
                          <a:effectLst/>
                        </a:rPr>
                        <a:t>docker network connect &lt;network&gt; &lt;container&gt;</a:t>
                      </a:r>
                    </a:p>
                  </a:txBody>
                  <a:tcPr marR="130645" marT="65322" marB="65322" anchor="ctr"/>
                </a:tc>
                <a:tc>
                  <a:txBody>
                    <a:bodyPr/>
                    <a:lstStyle/>
                    <a:p>
                      <a:r>
                        <a:rPr lang="en-US">
                          <a:effectLst/>
                        </a:rPr>
                        <a:t>Connect a running container to a network</a:t>
                      </a:r>
                    </a:p>
                  </a:txBody>
                  <a:tcPr marL="130645" marR="130645" marT="65322" marB="65322" anchor="ctr"/>
                </a:tc>
                <a:extLst>
                  <a:ext uri="{0D108BD9-81ED-4DB2-BD59-A6C34878D82A}">
                    <a16:rowId xmlns:a16="http://schemas.microsoft.com/office/drawing/2014/main" val="2885744562"/>
                  </a:ext>
                </a:extLst>
              </a:tr>
              <a:tr h="621680">
                <a:tc>
                  <a:txBody>
                    <a:bodyPr/>
                    <a:lstStyle/>
                    <a:p>
                      <a:r>
                        <a:rPr lang="en-US">
                          <a:effectLst/>
                        </a:rPr>
                        <a:t>docker network disconnect &lt;network&gt; &lt;container&gt;</a:t>
                      </a:r>
                    </a:p>
                  </a:txBody>
                  <a:tcPr marR="130645" marT="65322" marB="65322" anchor="ctr"/>
                </a:tc>
                <a:tc>
                  <a:txBody>
                    <a:bodyPr/>
                    <a:lstStyle/>
                    <a:p>
                      <a:r>
                        <a:rPr lang="en-US" dirty="0">
                          <a:effectLst/>
                        </a:rPr>
                        <a:t>Disconnect a container from a network</a:t>
                      </a:r>
                    </a:p>
                  </a:txBody>
                  <a:tcPr marL="130645" marR="130645" marT="65322" marB="65322" anchor="ctr"/>
                </a:tc>
                <a:extLst>
                  <a:ext uri="{0D108BD9-81ED-4DB2-BD59-A6C34878D82A}">
                    <a16:rowId xmlns:a16="http://schemas.microsoft.com/office/drawing/2014/main" val="2409051067"/>
                  </a:ext>
                </a:extLst>
              </a:tr>
            </a:tbl>
          </a:graphicData>
        </a:graphic>
      </p:graphicFrame>
    </p:spTree>
    <p:extLst>
      <p:ext uri="{BB962C8B-B14F-4D97-AF65-F5344CB8AC3E}">
        <p14:creationId xmlns:p14="http://schemas.microsoft.com/office/powerpoint/2010/main" val="4130145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24021"/>
            <a:ext cx="8596668" cy="45719"/>
          </a:xfrm>
        </p:spPr>
        <p:txBody>
          <a:bodyPr>
            <a:normAutofit fontScale="90000"/>
          </a:bodyPr>
          <a:lstStyle/>
          <a:p>
            <a:endParaRPr lang="en-IN" dirty="0"/>
          </a:p>
        </p:txBody>
      </p:sp>
      <p:sp>
        <p:nvSpPr>
          <p:cNvPr id="3" name="Content Placeholder 2"/>
          <p:cNvSpPr>
            <a:spLocks noGrp="1"/>
          </p:cNvSpPr>
          <p:nvPr>
            <p:ph sz="half" idx="1"/>
          </p:nvPr>
        </p:nvSpPr>
        <p:spPr>
          <a:xfrm>
            <a:off x="677334" y="633046"/>
            <a:ext cx="6258038" cy="5601812"/>
          </a:xfrm>
        </p:spPr>
        <p:txBody>
          <a:bodyPr>
            <a:normAutofit/>
          </a:bodyPr>
          <a:lstStyle/>
          <a:p>
            <a:pPr marL="0" indent="0">
              <a:buNone/>
            </a:pPr>
            <a:r>
              <a:rPr lang="en-US" sz="2400" dirty="0">
                <a:solidFill>
                  <a:srgbClr val="00B050"/>
                </a:solidFill>
              </a:rPr>
              <a:t>Docker </a:t>
            </a:r>
            <a:r>
              <a:rPr lang="en-US" sz="2400" dirty="0" smtClean="0">
                <a:solidFill>
                  <a:srgbClr val="00B050"/>
                </a:solidFill>
              </a:rPr>
              <a:t>Volumes</a:t>
            </a:r>
            <a:r>
              <a:rPr lang="en-US" dirty="0" smtClean="0"/>
              <a:t/>
            </a:r>
            <a:br>
              <a:rPr lang="en-US" dirty="0" smtClean="0"/>
            </a:br>
            <a:r>
              <a:rPr lang="en-US" dirty="0" smtClean="0"/>
              <a:t/>
            </a:r>
            <a:br>
              <a:rPr lang="en-US" dirty="0" smtClean="0"/>
            </a:br>
            <a:r>
              <a:rPr lang="en-US" dirty="0" smtClean="0"/>
              <a:t>Docker </a:t>
            </a:r>
            <a:r>
              <a:rPr lang="en-US" dirty="0"/>
              <a:t>volumes are directories or files that are shared between the host machine and a Docker container. They provide a way to persist data even after a container is deleted or restarted</a:t>
            </a:r>
            <a:r>
              <a:rPr lang="en-US" dirty="0" smtClean="0"/>
              <a:t>.</a:t>
            </a:r>
            <a:br>
              <a:rPr lang="en-US" dirty="0" smtClean="0"/>
            </a:br>
            <a:r>
              <a:rPr lang="en-US" dirty="0" smtClean="0"/>
              <a:t/>
            </a:r>
            <a:br>
              <a:rPr lang="en-US" dirty="0" smtClean="0"/>
            </a:br>
            <a:r>
              <a:rPr lang="en-US" dirty="0" smtClean="0"/>
              <a:t>Types </a:t>
            </a:r>
            <a:r>
              <a:rPr lang="en-US" dirty="0"/>
              <a:t>of Docker </a:t>
            </a:r>
            <a:r>
              <a:rPr lang="en-US" dirty="0" smtClean="0"/>
              <a:t>Volumes</a:t>
            </a:r>
            <a:br>
              <a:rPr lang="en-US" dirty="0" smtClean="0"/>
            </a:br>
            <a:r>
              <a:rPr lang="en-US" b="1" dirty="0" smtClean="0">
                <a:solidFill>
                  <a:schemeClr val="accent5"/>
                </a:solidFill>
              </a:rPr>
              <a:t>1</a:t>
            </a:r>
            <a:r>
              <a:rPr lang="en-US" b="1" dirty="0">
                <a:solidFill>
                  <a:schemeClr val="accent5"/>
                </a:solidFill>
              </a:rPr>
              <a:t>. Named volumes: </a:t>
            </a:r>
            <a:r>
              <a:rPr lang="en-US" dirty="0" smtClean="0"/>
              <a:t/>
            </a:r>
            <a:br>
              <a:rPr lang="en-US" dirty="0" smtClean="0"/>
            </a:br>
            <a:r>
              <a:rPr lang="en-US" dirty="0" smtClean="0"/>
              <a:t>Named </a:t>
            </a:r>
            <a:r>
              <a:rPr lang="en-US" dirty="0"/>
              <a:t>volumes are volumes that are created and managed by Docker. They are given a name and can be used by multiple </a:t>
            </a:r>
            <a:r>
              <a:rPr lang="en-US" dirty="0" smtClean="0"/>
              <a:t>containers</a:t>
            </a:r>
            <a:br>
              <a:rPr lang="en-US" dirty="0" smtClean="0"/>
            </a:br>
            <a:r>
              <a:rPr lang="en-US" b="1" dirty="0" smtClean="0">
                <a:solidFill>
                  <a:schemeClr val="accent5"/>
                </a:solidFill>
              </a:rPr>
              <a:t>2</a:t>
            </a:r>
            <a:r>
              <a:rPr lang="en-US" b="1" dirty="0">
                <a:solidFill>
                  <a:schemeClr val="accent5"/>
                </a:solidFill>
              </a:rPr>
              <a:t>. Anonymous volumes</a:t>
            </a:r>
            <a:r>
              <a:rPr lang="en-US" b="1" dirty="0" smtClean="0">
                <a:solidFill>
                  <a:schemeClr val="accent5"/>
                </a:solidFill>
              </a:rPr>
              <a:t>:</a:t>
            </a:r>
            <a:r>
              <a:rPr lang="en-US" dirty="0" smtClean="0"/>
              <a:t/>
            </a:r>
            <a:br>
              <a:rPr lang="en-US" dirty="0" smtClean="0"/>
            </a:br>
            <a:r>
              <a:rPr lang="en-US" dirty="0" smtClean="0"/>
              <a:t> </a:t>
            </a:r>
            <a:r>
              <a:rPr lang="en-US" dirty="0"/>
              <a:t>Anonymous volumes are volumes that are created and managed by Docker, but are not given a name</a:t>
            </a:r>
            <a:r>
              <a:rPr lang="en-US" dirty="0" smtClean="0"/>
              <a:t>.</a:t>
            </a:r>
            <a:br>
              <a:rPr lang="en-US" dirty="0" smtClean="0"/>
            </a:br>
            <a:r>
              <a:rPr lang="en-US" b="1" dirty="0" smtClean="0">
                <a:solidFill>
                  <a:schemeClr val="accent5"/>
                </a:solidFill>
              </a:rPr>
              <a:t>3</a:t>
            </a:r>
            <a:r>
              <a:rPr lang="en-US" b="1" dirty="0">
                <a:solidFill>
                  <a:schemeClr val="accent5"/>
                </a:solidFill>
              </a:rPr>
              <a:t>. Bind mounts</a:t>
            </a:r>
            <a:r>
              <a:rPr lang="en-US" b="1" dirty="0" smtClean="0">
                <a:solidFill>
                  <a:schemeClr val="accent5"/>
                </a:solidFill>
              </a:rPr>
              <a:t>:</a:t>
            </a:r>
            <a:r>
              <a:rPr lang="en-US" dirty="0" smtClean="0"/>
              <a:t/>
            </a:r>
            <a:br>
              <a:rPr lang="en-US" dirty="0" smtClean="0"/>
            </a:br>
            <a:r>
              <a:rPr lang="en-US" dirty="0" smtClean="0"/>
              <a:t> </a:t>
            </a:r>
            <a:r>
              <a:rPr lang="en-US" dirty="0"/>
              <a:t>Bind mounts are volumes that are mounted from the host machine into a container.</a:t>
            </a:r>
            <a:endParaRPr lang="en-IN" dirty="0"/>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304310583"/>
              </p:ext>
            </p:extLst>
          </p:nvPr>
        </p:nvGraphicFramePr>
        <p:xfrm>
          <a:off x="7244861" y="998804"/>
          <a:ext cx="4248444" cy="4945502"/>
        </p:xfrm>
        <a:graphic>
          <a:graphicData uri="http://schemas.openxmlformats.org/drawingml/2006/table">
            <a:tbl>
              <a:tblPr firstRow="1" bandRow="1">
                <a:tableStyleId>{5C22544A-7EE6-4342-B048-85BDC9FD1C3A}</a:tableStyleId>
              </a:tblPr>
              <a:tblGrid>
                <a:gridCol w="2124222">
                  <a:extLst>
                    <a:ext uri="{9D8B030D-6E8A-4147-A177-3AD203B41FA5}">
                      <a16:colId xmlns:a16="http://schemas.microsoft.com/office/drawing/2014/main" val="2004960289"/>
                    </a:ext>
                  </a:extLst>
                </a:gridCol>
                <a:gridCol w="2124222">
                  <a:extLst>
                    <a:ext uri="{9D8B030D-6E8A-4147-A177-3AD203B41FA5}">
                      <a16:colId xmlns:a16="http://schemas.microsoft.com/office/drawing/2014/main" val="4014986777"/>
                    </a:ext>
                  </a:extLst>
                </a:gridCol>
              </a:tblGrid>
              <a:tr h="759172">
                <a:tc>
                  <a:txBody>
                    <a:bodyPr/>
                    <a:lstStyle/>
                    <a:p>
                      <a:pPr algn="l"/>
                      <a:r>
                        <a:rPr lang="en-IN" b="1" dirty="0">
                          <a:solidFill>
                            <a:srgbClr val="404040"/>
                          </a:solidFill>
                          <a:effectLst/>
                        </a:rPr>
                        <a:t>Command</a:t>
                      </a:r>
                    </a:p>
                  </a:txBody>
                  <a:tcPr marR="130645" marT="65322" marB="65322" anchor="ctr"/>
                </a:tc>
                <a:tc>
                  <a:txBody>
                    <a:bodyPr/>
                    <a:lstStyle/>
                    <a:p>
                      <a:pPr algn="l"/>
                      <a:r>
                        <a:rPr lang="en-IN" b="1">
                          <a:solidFill>
                            <a:srgbClr val="404040"/>
                          </a:solidFill>
                          <a:effectLst/>
                        </a:rPr>
                        <a:t>Description</a:t>
                      </a:r>
                    </a:p>
                  </a:txBody>
                  <a:tcPr marL="130645" marR="130645" marT="65322" marB="65322" anchor="ctr"/>
                </a:tc>
                <a:extLst>
                  <a:ext uri="{0D108BD9-81ED-4DB2-BD59-A6C34878D82A}">
                    <a16:rowId xmlns:a16="http://schemas.microsoft.com/office/drawing/2014/main" val="626643073"/>
                  </a:ext>
                </a:extLst>
              </a:tr>
              <a:tr h="830159">
                <a:tc>
                  <a:txBody>
                    <a:bodyPr/>
                    <a:lstStyle/>
                    <a:p>
                      <a:r>
                        <a:rPr lang="en-IN">
                          <a:effectLst/>
                        </a:rPr>
                        <a:t>docker volume create &lt;volume_name&gt;</a:t>
                      </a:r>
                    </a:p>
                  </a:txBody>
                  <a:tcPr marR="130645" marT="65322" marB="65322" anchor="ctr"/>
                </a:tc>
                <a:tc>
                  <a:txBody>
                    <a:bodyPr/>
                    <a:lstStyle/>
                    <a:p>
                      <a:r>
                        <a:rPr lang="en-IN" dirty="0">
                          <a:effectLst/>
                        </a:rPr>
                        <a:t>Create a named volume</a:t>
                      </a:r>
                    </a:p>
                  </a:txBody>
                  <a:tcPr marL="130645" marR="130645" marT="65322" marB="65322" anchor="ctr"/>
                </a:tc>
                <a:extLst>
                  <a:ext uri="{0D108BD9-81ED-4DB2-BD59-A6C34878D82A}">
                    <a16:rowId xmlns:a16="http://schemas.microsoft.com/office/drawing/2014/main" val="3300113889"/>
                  </a:ext>
                </a:extLst>
              </a:tr>
              <a:tr h="759172">
                <a:tc>
                  <a:txBody>
                    <a:bodyPr/>
                    <a:lstStyle/>
                    <a:p>
                      <a:r>
                        <a:rPr lang="en-IN" dirty="0" err="1">
                          <a:effectLst/>
                        </a:rPr>
                        <a:t>docker</a:t>
                      </a:r>
                      <a:r>
                        <a:rPr lang="en-IN" dirty="0">
                          <a:effectLst/>
                        </a:rPr>
                        <a:t> volume ls</a:t>
                      </a:r>
                    </a:p>
                  </a:txBody>
                  <a:tcPr marR="130645" marT="65322" marB="65322" anchor="ctr"/>
                </a:tc>
                <a:tc>
                  <a:txBody>
                    <a:bodyPr/>
                    <a:lstStyle/>
                    <a:p>
                      <a:r>
                        <a:rPr lang="en-IN">
                          <a:effectLst/>
                        </a:rPr>
                        <a:t>List all volumes</a:t>
                      </a:r>
                    </a:p>
                  </a:txBody>
                  <a:tcPr marL="130645" marR="130645" marT="65322" marB="65322" anchor="ctr"/>
                </a:tc>
                <a:extLst>
                  <a:ext uri="{0D108BD9-81ED-4DB2-BD59-A6C34878D82A}">
                    <a16:rowId xmlns:a16="http://schemas.microsoft.com/office/drawing/2014/main" val="997939819"/>
                  </a:ext>
                </a:extLst>
              </a:tr>
              <a:tr h="830159">
                <a:tc>
                  <a:txBody>
                    <a:bodyPr/>
                    <a:lstStyle/>
                    <a:p>
                      <a:r>
                        <a:rPr lang="en-IN" dirty="0" err="1">
                          <a:effectLst/>
                        </a:rPr>
                        <a:t>docker</a:t>
                      </a:r>
                      <a:r>
                        <a:rPr lang="en-IN" dirty="0">
                          <a:effectLst/>
                        </a:rPr>
                        <a:t> volume inspect &lt;</a:t>
                      </a:r>
                      <a:r>
                        <a:rPr lang="en-IN" dirty="0" err="1">
                          <a:effectLst/>
                        </a:rPr>
                        <a:t>volume_name</a:t>
                      </a:r>
                      <a:r>
                        <a:rPr lang="en-IN" dirty="0">
                          <a:effectLst/>
                        </a:rPr>
                        <a:t>&gt;</a:t>
                      </a:r>
                    </a:p>
                  </a:txBody>
                  <a:tcPr marR="130645" marT="65322" marB="65322" anchor="ctr"/>
                </a:tc>
                <a:tc>
                  <a:txBody>
                    <a:bodyPr/>
                    <a:lstStyle/>
                    <a:p>
                      <a:r>
                        <a:rPr lang="en-US">
                          <a:effectLst/>
                        </a:rPr>
                        <a:t>Show volume details (mount point, driver)</a:t>
                      </a:r>
                    </a:p>
                  </a:txBody>
                  <a:tcPr marL="130645" marR="130645" marT="65322" marB="65322" anchor="ctr"/>
                </a:tc>
                <a:extLst>
                  <a:ext uri="{0D108BD9-81ED-4DB2-BD59-A6C34878D82A}">
                    <a16:rowId xmlns:a16="http://schemas.microsoft.com/office/drawing/2014/main" val="933166147"/>
                  </a:ext>
                </a:extLst>
              </a:tr>
              <a:tr h="759975">
                <a:tc>
                  <a:txBody>
                    <a:bodyPr/>
                    <a:lstStyle/>
                    <a:p>
                      <a:r>
                        <a:rPr lang="en-IN">
                          <a:effectLst/>
                        </a:rPr>
                        <a:t>docker volume rm &lt;volume_name&gt;</a:t>
                      </a:r>
                    </a:p>
                  </a:txBody>
                  <a:tcPr marR="130645" marT="65322" marB="65322" anchor="ctr"/>
                </a:tc>
                <a:tc>
                  <a:txBody>
                    <a:bodyPr/>
                    <a:lstStyle/>
                    <a:p>
                      <a:r>
                        <a:rPr lang="en-IN">
                          <a:effectLst/>
                        </a:rPr>
                        <a:t>Remove a volume</a:t>
                      </a:r>
                    </a:p>
                  </a:txBody>
                  <a:tcPr marL="130645" marR="130645" marT="65322" marB="65322" anchor="ctr"/>
                </a:tc>
                <a:extLst>
                  <a:ext uri="{0D108BD9-81ED-4DB2-BD59-A6C34878D82A}">
                    <a16:rowId xmlns:a16="http://schemas.microsoft.com/office/drawing/2014/main" val="2991934031"/>
                  </a:ext>
                </a:extLst>
              </a:tr>
              <a:tr h="759975">
                <a:tc>
                  <a:txBody>
                    <a:bodyPr/>
                    <a:lstStyle/>
                    <a:p>
                      <a:r>
                        <a:rPr lang="en-IN">
                          <a:effectLst/>
                        </a:rPr>
                        <a:t>docker volume prune</a:t>
                      </a:r>
                    </a:p>
                  </a:txBody>
                  <a:tcPr marR="130645" marT="65322" marB="65322" anchor="ctr"/>
                </a:tc>
                <a:tc>
                  <a:txBody>
                    <a:bodyPr/>
                    <a:lstStyle/>
                    <a:p>
                      <a:r>
                        <a:rPr lang="en-IN" dirty="0">
                          <a:effectLst/>
                        </a:rPr>
                        <a:t>Delete all unused volumes</a:t>
                      </a:r>
                    </a:p>
                  </a:txBody>
                  <a:tcPr marL="130645" marR="130645" marT="65322" marB="65322" anchor="ctr"/>
                </a:tc>
                <a:extLst>
                  <a:ext uri="{0D108BD9-81ED-4DB2-BD59-A6C34878D82A}">
                    <a16:rowId xmlns:a16="http://schemas.microsoft.com/office/drawing/2014/main" val="1907422111"/>
                  </a:ext>
                </a:extLst>
              </a:tr>
            </a:tbl>
          </a:graphicData>
        </a:graphic>
      </p:graphicFrame>
    </p:spTree>
    <p:extLst>
      <p:ext uri="{BB962C8B-B14F-4D97-AF65-F5344CB8AC3E}">
        <p14:creationId xmlns:p14="http://schemas.microsoft.com/office/powerpoint/2010/main" val="1181050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77334" y="609600"/>
            <a:ext cx="8596668" cy="839372"/>
          </a:xfrm>
        </p:spPr>
        <p:txBody>
          <a:bodyPr/>
          <a:lstStyle/>
          <a:p>
            <a:r>
              <a:rPr lang="en-US" dirty="0" smtClean="0"/>
              <a:t>Major Issues with Docker</a:t>
            </a:r>
            <a:endParaRPr lang="en-IN" dirty="0"/>
          </a:p>
        </p:txBody>
      </p:sp>
      <p:sp>
        <p:nvSpPr>
          <p:cNvPr id="6" name="Content Placeholder 5"/>
          <p:cNvSpPr>
            <a:spLocks noGrp="1"/>
          </p:cNvSpPr>
          <p:nvPr>
            <p:ph idx="1"/>
          </p:nvPr>
        </p:nvSpPr>
        <p:spPr>
          <a:xfrm>
            <a:off x="677333" y="1645920"/>
            <a:ext cx="9338863" cy="4515729"/>
          </a:xfrm>
        </p:spPr>
        <p:txBody>
          <a:bodyPr>
            <a:normAutofit lnSpcReduction="10000"/>
          </a:bodyPr>
          <a:lstStyle/>
          <a:p>
            <a:r>
              <a:rPr lang="en-IN" b="1" dirty="0"/>
              <a:t>Security Risks</a:t>
            </a:r>
            <a:endParaRPr lang="en-IN" dirty="0"/>
          </a:p>
          <a:p>
            <a:pPr marL="457200" lvl="1" indent="0">
              <a:buNone/>
            </a:pPr>
            <a:r>
              <a:rPr lang="en-IN" dirty="0"/>
              <a:t>Container breakouts, root privileges, and vulnerable base images.</a:t>
            </a:r>
          </a:p>
          <a:p>
            <a:r>
              <a:rPr lang="en-IN" b="1" dirty="0"/>
              <a:t>Storage Complexity</a:t>
            </a:r>
            <a:endParaRPr lang="en-IN" dirty="0"/>
          </a:p>
          <a:p>
            <a:pPr marL="457200" lvl="1" indent="0">
              <a:buNone/>
            </a:pPr>
            <a:r>
              <a:rPr lang="en-IN" dirty="0"/>
              <a:t>Data persistence challenges and slow bind mounts on </a:t>
            </a:r>
            <a:r>
              <a:rPr lang="en-IN" dirty="0" err="1"/>
              <a:t>macOS</a:t>
            </a:r>
            <a:r>
              <a:rPr lang="en-IN" dirty="0"/>
              <a:t>/Windows.</a:t>
            </a:r>
          </a:p>
          <a:p>
            <a:r>
              <a:rPr lang="en-IN" b="1" dirty="0"/>
              <a:t>Networking Problems</a:t>
            </a:r>
            <a:endParaRPr lang="en-IN" dirty="0"/>
          </a:p>
          <a:p>
            <a:pPr marL="457200" lvl="1" indent="0">
              <a:buNone/>
            </a:pPr>
            <a:r>
              <a:rPr lang="en-IN" dirty="0"/>
              <a:t>Port conflicts, DNS issues, and cross-host communication hurdles.</a:t>
            </a:r>
          </a:p>
          <a:p>
            <a:r>
              <a:rPr lang="en-IN" b="1" dirty="0"/>
              <a:t>Resource Hogging</a:t>
            </a:r>
            <a:endParaRPr lang="en-IN" dirty="0"/>
          </a:p>
          <a:p>
            <a:pPr marL="457200" lvl="1" indent="0">
              <a:buNone/>
            </a:pPr>
            <a:r>
              <a:rPr lang="en-IN" dirty="0"/>
              <a:t>Uncontrolled CPU/memory usage and disk bloat from unused images.</a:t>
            </a:r>
          </a:p>
          <a:p>
            <a:r>
              <a:rPr lang="en-IN" b="1" dirty="0"/>
              <a:t>Platform Limitations</a:t>
            </a:r>
            <a:endParaRPr lang="en-IN" dirty="0"/>
          </a:p>
          <a:p>
            <a:pPr marL="457200" lvl="1" indent="0">
              <a:buNone/>
            </a:pPr>
            <a:r>
              <a:rPr lang="en-IN" dirty="0"/>
              <a:t>Linux dependency, ARM compatibility issues, and poor GUI support.</a:t>
            </a:r>
          </a:p>
          <a:p>
            <a:r>
              <a:rPr lang="en-IN" b="1" dirty="0"/>
              <a:t>Orchestration Overhead</a:t>
            </a:r>
            <a:endParaRPr lang="en-IN" dirty="0"/>
          </a:p>
          <a:p>
            <a:pPr marL="457200" lvl="1" indent="0">
              <a:buNone/>
            </a:pPr>
            <a:r>
              <a:rPr lang="en-IN" dirty="0"/>
              <a:t>Steep learning curve for Swarm/Kubernetes and </a:t>
            </a:r>
            <a:r>
              <a:rPr lang="en-IN" dirty="0" err="1"/>
              <a:t>stateful</a:t>
            </a:r>
            <a:r>
              <a:rPr lang="en-IN" dirty="0"/>
              <a:t> app management.</a:t>
            </a:r>
          </a:p>
          <a:p>
            <a:endParaRPr lang="en-IN" dirty="0"/>
          </a:p>
        </p:txBody>
      </p:sp>
    </p:spTree>
    <p:extLst>
      <p:ext uri="{BB962C8B-B14F-4D97-AF65-F5344CB8AC3E}">
        <p14:creationId xmlns:p14="http://schemas.microsoft.com/office/powerpoint/2010/main" val="9393102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89</TotalTime>
  <Words>257</Words>
  <Application>Microsoft Office PowerPoint</Application>
  <PresentationFormat>Widescreen</PresentationFormat>
  <Paragraphs>58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 3</vt:lpstr>
      <vt:lpstr>Facet</vt:lpstr>
      <vt:lpstr>PowerPoint Presentation</vt:lpstr>
      <vt:lpstr>Introduction:</vt:lpstr>
      <vt:lpstr>Docker Architecture</vt:lpstr>
      <vt:lpstr>PowerPoint Presentation</vt:lpstr>
      <vt:lpstr>PowerPoint Presentation</vt:lpstr>
      <vt:lpstr>Multi-Stage Dockerization: Multi-stage Docker builds help optimize your Docker images by separating the build environment from the runtime environment. This reduces the final image size and improves security by excluding unnecessary build tools.  </vt:lpstr>
      <vt:lpstr>PowerPoint Presentation</vt:lpstr>
      <vt:lpstr>PowerPoint Presentation</vt:lpstr>
      <vt:lpstr>Major Issues with Docker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16</cp:revision>
  <dcterms:created xsi:type="dcterms:W3CDTF">2025-04-07T14:44:17Z</dcterms:created>
  <dcterms:modified xsi:type="dcterms:W3CDTF">2025-04-07T16:13:35Z</dcterms:modified>
</cp:coreProperties>
</file>